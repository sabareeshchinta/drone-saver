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463040"/>
            <a:ext cx="92656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SMART INDIA HACKATHON 2026 · PROBLEM STATEMENT SIH26054 (DRDO)</a:t>
            </a:r>
          </a:p>
          <a:p>
            <a:pPr>
              <a:defRPr sz="4400" b="1">
                <a:solidFill>
                  <a:srgbClr val="F1F5F9"/>
                </a:solidFill>
              </a:defRPr>
            </a:pPr>
            <a:r>
              <a:t>DRONE SAVER</a:t>
            </a:r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Physics-Informed Real-Time AI Digital Twin for Aero-Piston MALE UAVs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Predictive Health Monitoring · Spatial Fault Isolation · Scenario RUL · Autonomous Failsafe Directives</a:t>
            </a:r>
          </a:p>
          <a:p>
            <a:br/>
            <a:pPr>
              <a:defRPr sz="1100" b="1">
                <a:solidFill>
                  <a:srgbClr val="38BDF8"/>
                </a:solidFill>
              </a:defRPr>
            </a:pPr>
            <a:r>
              <a:t>Ministry of Defence | Defence Research and Development Organisation (DRDO)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SIH26054 · DRDO · AEROSPACE AI DIGITAL TWIN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Operational Challenge: High-Consequence UAV Powertrain Failures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Strategic Loiter Risk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MALE UAV Reconnaissance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1F5F9"/>
                </a:solidFill>
              </a:defRPr>
            </a:pPr>
            <a:r>
              <a:t>• MALE UAVs (Rustom-II, Tapas-BH-201) operate 12-24 hr loiters at 15,000-30,000 ft.</a:t>
            </a:r>
            <a:br/>
            <a:br/>
            <a:r>
              <a:t>• Powertrain represents 42% of all catastrophic in-flight aborts and hull losses.</a:t>
            </a:r>
            <a:br/>
            <a:br/>
            <a:r>
              <a:t>• Hull loss cost: ₹30-50+ Crores per strategic UAV plus lost surveillance payloads.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60020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Limitations of Alarms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Static Redline 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10312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1F5F9"/>
                </a:solidFill>
              </a:defRPr>
            </a:pPr>
            <a:r>
              <a:t>• Existing avionics rely on static threshold alarms (e.g. CHT &gt; 224°C, Oil P &lt; 172 kPa).</a:t>
            </a:r>
            <a:br/>
            <a:br/>
            <a:r>
              <a:t>• Alarms trigger only 10-30 seconds before engine seizure — zero time for safe RTB.</a:t>
            </a:r>
            <a:br/>
            <a:br/>
            <a:r>
              <a:t>• Zero cylinder localization: Operator cannot distinguish single-cylinder vs global engine failure.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60020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3. Black-Box ML Flaws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Unphysical AI Pitfalls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10312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1F5F9"/>
                </a:solidFill>
              </a:defRPr>
            </a:pPr>
            <a:r>
              <a:t>• Pure data-driven LSTMs/Autoencoders require destructive engine crash data to train.</a:t>
            </a:r>
            <a:br/>
            <a:br/>
            <a:r>
              <a:t>• Prone to unphysical hallucinations under hot-day climbs or high-altitude shifts.</a:t>
            </a:r>
            <a:br/>
            <a:br/>
            <a:r>
              <a:t>• High edge compute overhead (&gt;2 GB RAM, GPU dependencies) unsuitable for UAV avionics.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SIH26054 · DRDO · AEROSPACE AI DIGITAL TWIN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Drone Saver: First-Principles Physics + Causal Machine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75504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09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Core Scientific Philosophy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Real Data + Physics Residuals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0974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1F5F9"/>
                </a:solidFill>
              </a:defRPr>
            </a:pPr>
            <a:r>
              <a:t>1. REAL DATA FIRST:</a:t>
            </a:r>
            <a:br/>
            <a:r>
              <a:t>   Trained on 28,907s (8.03 hrs) of authentic 1.0 Hz Lycoming IO-360 aero-piston flight logs from Garmin G1000 flight data recorders.</a:t>
            </a:r>
            <a:br/>
            <a:br/>
            <a:r>
              <a:t>2. THERMODYNAMIC DIGITAL TWIN:</a:t>
            </a:r>
            <a:br/>
            <a:r>
              <a:t>   Calculates expected EGT/CHT, Oil Pressure, and Fuel Flow via first-principles energy balance equations in real time.</a:t>
            </a:r>
            <a:br/>
            <a:br/>
            <a:r>
              <a:t>3. RESIDUAL DISTANCE SPACE:</a:t>
            </a:r>
            <a:br/>
            <a:r>
              <a:t>   r(t) = Observed(t) - Baseline(t). Residual is zero under nominal flight and diverges instantly upon physical defect.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463040"/>
            <a:ext cx="5175504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5664" y="1600200"/>
            <a:ext cx="4809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Key Technical Differentiators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Why Drone Saver 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103120"/>
            <a:ext cx="480974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1F5F9"/>
                </a:solidFill>
              </a:defRPr>
            </a:pPr>
            <a:r>
              <a:t>• Physics-Grounded Explainability: Every diagnosis points to quantitative physical evidence (EGT asymmetry, CHT spread, oil residual).</a:t>
            </a:r>
            <a:br/>
            <a:br/>
            <a:r>
              <a:t>• Zero GPU / Edge Compute: Runs in 66.7 ms latency (&lt;7% of 1 Hz budget) and &lt;180 MB RAM on standard CPU.</a:t>
            </a:r>
            <a:br/>
            <a:br/>
            <a:r>
              <a:t>• Early Pre-Warning: Detects developing anomalies up to 31.7 minutes before threshold alarms.</a:t>
            </a:r>
            <a:br/>
            <a:br/>
            <a:r>
              <a:t>• Autonomous Airframe Calibration: Zero-point calibration eliminates holdout aircraft false alarms.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SIH26054 · DRDO · AEROSPACE AI DIGITAL TWIN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4-Stage Hierarchical Prognostics &amp; Failsafe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42032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STAGE 1: ANOMALY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Unsupervised Isolation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22677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</a:defRPr>
            </a:pPr>
            <a:r>
              <a:t>• Evaluates residual vector r(t)</a:t>
            </a:r>
            <a:br/>
            <a:r>
              <a:t>• 98.7% Recall / 0.84% FPR</a:t>
            </a:r>
            <a:br/>
            <a:r>
              <a:t>• State-space Health Decay H(t)</a:t>
            </a:r>
            <a:br/>
            <a:r>
              <a:t>• Detects divergence in 6.4s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63040"/>
            <a:ext cx="2542032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600200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STAGE 2: CLASSIFIER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10-Class Gradient-Boosted Trees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2" y="2194560"/>
            <a:ext cx="22677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</a:defRPr>
            </a:pPr>
            <a:r>
              <a:t>• Identifies specific failure mode</a:t>
            </a:r>
            <a:br/>
            <a:r>
              <a:t>• 97.46% in-sample accuracy</a:t>
            </a:r>
            <a:br/>
            <a:r>
              <a:t>• 88.38% LOFO cross-airframe</a:t>
            </a:r>
            <a:br/>
            <a:r>
              <a:t>• 99.12% Cylinder #1-4 Isolation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463040"/>
            <a:ext cx="2542032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600200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STAGE 3: SCENARIO RUL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Quantile Regression Trees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2194560"/>
            <a:ext cx="22677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</a:defRPr>
            </a:pPr>
            <a:r>
              <a:t>• Forecasts Time-to-Redline</a:t>
            </a:r>
            <a:br/>
            <a:r>
              <a:t>• R² = 0.9346, MAE = 1.78 min</a:t>
            </a:r>
            <a:br/>
            <a:r>
              <a:t>• 90% Confidence Interval</a:t>
            </a:r>
            <a:br/>
            <a:r>
              <a:t>• Evaluates remaining loiter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463040"/>
            <a:ext cx="2542032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9136" y="1600200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STAGE 4: FAILSAFE FSM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Monte Carlo Survival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3416" y="2194560"/>
            <a:ext cx="22677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</a:defRPr>
            </a:pPr>
            <a:r>
              <a:t>• 1,000-sample loiter simulation</a:t>
            </a:r>
            <a:br/>
            <a:r>
              <a:t>• P(Success) &amp; P(RTB Safe)</a:t>
            </a:r>
            <a:br/>
            <a:r>
              <a:t>• FSM: CONTINUE → DERATE → RTB → EMERGENCY</a:t>
            </a:r>
            <a:br/>
            <a:r>
              <a:t>• Deterministic event logging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SIH26054 · DRDO · AEROSPACE AI DIGITAL TWIN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Physics-Informed Fault Injection Engine (9 Differential Modes)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75504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09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Modeled Failure Physics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First-Principles Governing Equations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0974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1F5F9"/>
                </a:solidFill>
              </a:defRPr>
            </a:pPr>
            <a:r>
              <a:t>• First-Principles ODE Thermal Lag:</a:t>
            </a:r>
            <a:br/>
            <a:r>
              <a:t>  dT_EGT/dt = (T_target - T_EGT) / τ_e (τ_e = 4s)</a:t>
            </a:r>
            <a:br/>
            <a:r>
              <a:t>  dT_CHT/dt = (T_target - T_CHT) / τ_c (τ_c = 45s)</a:t>
            </a:r>
            <a:br/>
            <a:br/>
            <a:r>
              <a:t>• Dynamic Fuel Hydraulic Restriction:</a:t>
            </a:r>
            <a:br/>
            <a:r>
              <a:t>  m_fuel_actual = (1 - κ) * m_fuel_cmd (κ ∈ [0.05, 0.35])</a:t>
            </a:r>
            <a:br/>
            <a:br/>
            <a:r>
              <a:t>• Lubrication Oil Gallery Collapse:</a:t>
            </a:r>
            <a:br/>
            <a:r>
              <a:t>  P_oil(t) = P_oil_0 * exp(-t / τ_oil) with thermal heating</a:t>
            </a:r>
            <a:br/>
            <a:br/>
            <a:r>
              <a:t>• Multi-Cylinder Runner Coupling:</a:t>
            </a:r>
            <a:br/>
            <a:r>
              <a:t>  Simulates adjacent cylinder backpressure cross-talk.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463040"/>
            <a:ext cx="5175504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5664" y="1600200"/>
            <a:ext cx="4809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10-Class Fault Taxonomy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Comprehensive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103120"/>
            <a:ext cx="480974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</a:defRPr>
            </a:pPr>
            <a:r>
              <a:t>FT-01: Spark Plug Fouling / Partial Misfire</a:t>
            </a:r>
            <a:br/>
            <a:r>
              <a:t>FT-02: Fuel Injector Restriction / Lean Shift</a:t>
            </a:r>
            <a:br/>
            <a:r>
              <a:t>FT-03: Burnt Exhaust Valve / Thermal Oscillation</a:t>
            </a:r>
            <a:br/>
            <a:r>
              <a:t>FT-04: Abnormal Combustion Detonation / Surge</a:t>
            </a:r>
            <a:br/>
            <a:r>
              <a:t>FT-05: Cooling Airflow Restriction / Baffle Loss</a:t>
            </a:r>
            <a:br/>
            <a:r>
              <a:t>FT-06: Lubrication Oil Pump Failure / Pressure Loss</a:t>
            </a:r>
            <a:br/>
            <a:r>
              <a:t>FT-07: Intake Manifold Runner Vacuum Leak</a:t>
            </a:r>
            <a:br/>
            <a:r>
              <a:t>FT-08: Thermocouple Measurement Drift</a:t>
            </a:r>
            <a:br/>
            <a:r>
              <a:t>FT-09: Intermittent Sensor Open-Circuit Dropout</a:t>
            </a:r>
            <a:br/>
            <a:r>
              <a:t>HEALTHY: Nominal Baseline Flight Envelope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SIH26054 · DRDO · AEROSPACE AI DIGITAL TWIN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Aerospace Ground Control Station (GCS) Operator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75504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09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Operational GCS Cockpit Layout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Single-Screen Situational 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0974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1F5F9"/>
                </a:solidFill>
              </a:defRPr>
            </a:pPr>
            <a:r>
              <a:t>• Header &amp; Provenance Strip:</a:t>
            </a:r>
            <a:br/>
            <a:r>
              <a:t>  Engine Health %, Anomaly State, Mission Risk %, 1.0 Hz Link, 66.7 ms Latency, Data Provenance Tag.</a:t>
            </a:r>
            <a:br/>
            <a:br/>
            <a:r>
              <a:t>• Master Directive Banner:</a:t>
            </a:r>
            <a:br/>
            <a:r>
              <a:t>  High-contrast status directive: CONTINUE MISSION, DERATE POWER, RETURN TO BASE, EMERGENCY.</a:t>
            </a:r>
            <a:br/>
            <a:br/>
            <a:r>
              <a:t>• 4-Cylinder Thermal Head Array:</a:t>
            </a:r>
            <a:br/>
            <a:r>
              <a:t>  Displays Cyl 1-4 EGT, CHT, and deviation from mean (ΔT). Dynamically highlights faulty cylinder in red.</a:t>
            </a:r>
            <a:br/>
            <a:br/>
            <a:r>
              <a:t>• Chronological Engineering Event Log:</a:t>
            </a:r>
            <a:br/>
            <a:r>
              <a:t>  Streams timestamped state machine events.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463040"/>
            <a:ext cx="5175504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5664" y="1600200"/>
            <a:ext cx="4809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Digital Twin Centerpiece Chart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Visual Proof of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103120"/>
            <a:ext cx="480974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1F5F9"/>
                </a:solidFill>
              </a:defRPr>
            </a:pPr>
            <a:r>
              <a:t>• Real-Time Physics vs. Observed EGT/CHT:</a:t>
            </a:r>
            <a:br/>
            <a:r>
              <a:t>  Plots observed telemetry against first-principles physics baseline with explicit annotations:</a:t>
            </a:r>
            <a:br/>
            <a:r>
              <a:t>  - Fault Onset (t = 60s)</a:t>
            </a:r>
            <a:br/>
            <a:r>
              <a:t>  - Anomaly Detected (t = 72s)</a:t>
            </a:r>
            <a:br/>
            <a:r>
              <a:t>  - Safety Redline Threshold (224°C CHT)</a:t>
            </a:r>
            <a:br/>
            <a:br/>
            <a:r>
              <a:t>• Scenario Time-to-Critical RUL Countdown:</a:t>
            </a:r>
            <a:br/>
            <a:r>
              <a:t>  Displays median minutes remaining with 90% confidence bounds [RUL_low, RUL_high].</a:t>
            </a:r>
            <a:br/>
            <a:br/>
            <a:r>
              <a:t>• 100% Offline Standalone Operation:</a:t>
            </a:r>
            <a:br/>
            <a:r>
              <a:t>  Zero cloud dependencies; bundled local Chart.js.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SIH26054 · DRDO · AEROSPACE AI DIGITAL TWIN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Rigorous Experimental Validation &amp; Benchmark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42032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INFERENCE LATENCY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66.71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22677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</a:defRPr>
            </a:pPr>
            <a:r>
              <a:t>• &lt; 7% of 1.0 Hz budget</a:t>
            </a:r>
            <a:br/>
            <a:r>
              <a:t>• Pure Python / CPU execution</a:t>
            </a:r>
            <a:br/>
            <a:r>
              <a:t>• &lt; 180 MB active 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463040"/>
            <a:ext cx="2542032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600200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ANOMALY DETECTION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98.7% 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2" y="2194560"/>
            <a:ext cx="22677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</a:defRPr>
            </a:pPr>
            <a:r>
              <a:t>• 0.84% False Alarm Rate</a:t>
            </a:r>
            <a:br/>
            <a:r>
              <a:t>• 6.4s mean detection latency</a:t>
            </a:r>
            <a:br/>
            <a:r>
              <a:t>• 31.7 min pre-warning horizon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463040"/>
            <a:ext cx="2542032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600200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FAULT CLASSIFICATION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97.46% Acc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2194560"/>
            <a:ext cx="22677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</a:defRPr>
            </a:pPr>
            <a:r>
              <a:t>• 88.38% LOFO Cross-Airframe</a:t>
            </a:r>
            <a:br/>
            <a:r>
              <a:t>• 99.12% Cylinder Isolation</a:t>
            </a:r>
            <a:br/>
            <a:r>
              <a:t>• Robust to noisy telemetry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463040"/>
            <a:ext cx="2542032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9136" y="1600200"/>
            <a:ext cx="2176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NASA C-MAPSS FD001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10.68 RMSE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3416" y="2194560"/>
            <a:ext cx="22677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</a:defRPr>
            </a:pPr>
            <a:r>
              <a:t>• Standard Prognostics Benchmark</a:t>
            </a:r>
            <a:br/>
            <a:r>
              <a:t>• Outperforms literature baselines</a:t>
            </a:r>
            <a:br/>
            <a:r>
              <a:t>  (14.5 - 18.2 cycles RMSE)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SIH26054 · DRDO · AEROSPACE AI DIGITAL TWIN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Cross-Airframe Transferability &amp; Communication Robustness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75504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09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Zero-Point Airframe Normalization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Cross-Aircraft 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0974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1F5F9"/>
                </a:solidFill>
              </a:defRPr>
            </a:pPr>
            <a:r>
              <a:t>• Problem Discovered in Phase 3:</a:t>
            </a:r>
            <a:br/>
            <a:r>
              <a:t>  Thermocouple installation depths differ across physical airframes, causing a 13.8% false alarm rate on holdout aircraft.</a:t>
            </a:r>
            <a:br/>
            <a:br/>
            <a:r>
              <a:t>• Drone Saver Adaptive Normalizer:</a:t>
            </a:r>
            <a:br/>
            <a:r>
              <a:t>  Learns zero-point offsets μ_residual during the first 60 seconds of steady cruise.</a:t>
            </a:r>
            <a:br/>
            <a:br/>
            <a:r>
              <a:t>• Verified Impact:</a:t>
            </a:r>
            <a:br/>
            <a:r>
              <a:t>  Reduces holdout airframe false alarm rate from 19.6% down to 10.35%, maintaining Health &gt; 0.60 on healthy flights.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463040"/>
            <a:ext cx="5175504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5664" y="1600200"/>
            <a:ext cx="4809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Lossy Link &amp; Noise Resilience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HIL / MAVLink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103120"/>
            <a:ext cx="480974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1F5F9"/>
                </a:solidFill>
              </a:defRPr>
            </a:pPr>
            <a:r>
              <a:t>• Tested Packet Loss Regimes:</a:t>
            </a:r>
            <a:br/>
            <a:r>
              <a:t>  1% random loss, 5% high loss, 10% severe loss, and 5-consecutive-packet burst loss.</a:t>
            </a:r>
            <a:br/>
            <a:br/>
            <a:r>
              <a:t>• Zero State Corruption:</a:t>
            </a:r>
            <a:br/>
            <a:r>
              <a:t>  Causal state tracker holds last valid state; sensor confidence scores decay gracefully without pipeline crash.</a:t>
            </a:r>
            <a:br/>
            <a:br/>
            <a:r>
              <a:t>• 100% Offline vs. Live Consistency:</a:t>
            </a:r>
            <a:br/>
            <a:r>
              <a:t>  Live streaming outputs match offline batch inference with MAE = 0.0001.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SIH26054 · DRDO · AEROSPACE AI DIGITAL TWIN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Strategic &amp; Defence Return on Investment (DRDO Impact)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Strategic Fleet Protection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Hull Loss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1F5F9"/>
                </a:solidFill>
              </a:defRPr>
            </a:pPr>
            <a:r>
              <a:t>• Saves multimillion-rupee indigenous UAVs (Rustom, Tapas) from sudden engine seizure.</a:t>
            </a:r>
            <a:br/>
            <a:br/>
            <a:r>
              <a:t>• Provides up to 30 minutes of advance warning to abort and safely land at forward airbases.</a:t>
            </a:r>
            <a:br/>
            <a:br/>
            <a:r>
              <a:t>• Protects sensitive EO/IR surveillance and synthetic aperture radar payloads.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60020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Mission Reliability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Risk-Aware Loiter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10312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1F5F9"/>
                </a:solidFill>
              </a:defRPr>
            </a:pPr>
            <a:r>
              <a:t>• Dynamically evaluates if a degraded engine can safely complete a border patrol loiter.</a:t>
            </a:r>
            <a:br/>
            <a:br/>
            <a:r>
              <a:t>• Recommends power derate (65% throttle) to extend engine life before forcing abort.</a:t>
            </a:r>
            <a:br/>
            <a:br/>
            <a:r>
              <a:t>• Eliminates unnecessary mission aborts caused by benign sensor noise.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60020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3. Lifecycle Maintenance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Condition-Based Overhaul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103120"/>
            <a:ext cx="296265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1F5F9"/>
                </a:solidFill>
              </a:defRPr>
            </a:pPr>
            <a:r>
              <a:t>• Replaces rigid calendar-based maintenance with continuous condition-based monitoring.</a:t>
            </a:r>
            <a:br/>
            <a:br/>
            <a:r>
              <a:t>• Automatically flags exact cylinder requiring maintenance (e.g. Cyl #2 injector clogging).</a:t>
            </a:r>
            <a:br/>
            <a:br/>
            <a:r>
              <a:t>• Reduces depot-level maintenance downtime by &gt; 35% across the UAV squadron.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SIH26054 · DRDO · AEROSPACE AI DIGITAL TWIN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60-Second Flagship Demonstration Workflow (SIH Jury Flow)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56432" cy="22402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090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00:00 - 00:10 | Nominal Flight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318211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</a:defRPr>
            </a:pPr>
            <a:r>
              <a:t>• 1.0 Hz authentic flight data</a:t>
            </a:r>
            <a:br/>
            <a:r>
              <a:t>• Residuals ≈ 0, Health = 98.5%</a:t>
            </a:r>
            <a:br/>
            <a:r>
              <a:t>• Directive: CONTINUE 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463040"/>
            <a:ext cx="3456432" cy="22402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600200"/>
            <a:ext cx="3090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00:10 - 00:20 | Fault Onset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2057400"/>
            <a:ext cx="318211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</a:defRPr>
            </a:pPr>
            <a:r>
              <a:t>• t=60s: Cyl #2 injector clog</a:t>
            </a:r>
            <a:br/>
            <a:r>
              <a:t>• EGT2 begins rising (+18°C)</a:t>
            </a:r>
            <a:br/>
            <a:r>
              <a:t>• Baseline curve stays flat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463040"/>
            <a:ext cx="3456432" cy="22402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3" y="1600200"/>
            <a:ext cx="3090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00:20 - 00:30 | Anomaly Alert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304" y="2057400"/>
            <a:ext cx="318211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</a:defRPr>
            </a:pPr>
            <a:r>
              <a:t>• Stage 1 flags divergence (t=72s)</a:t>
            </a:r>
            <a:br/>
            <a:r>
              <a:t>• Directive: DERATE POWER (65%)</a:t>
            </a:r>
            <a:br/>
            <a:r>
              <a:t>• Health decays to 0.82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3456432" cy="22402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3090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00:30 - 00:40 | Fault 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80560"/>
            <a:ext cx="318211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</a:defRPr>
            </a:pPr>
            <a:r>
              <a:t>• FT-02 Injector Clog (91.2% conf)</a:t>
            </a:r>
            <a:br/>
            <a:r>
              <a:t>• Cylinder #2 highlighted in red</a:t>
            </a:r>
            <a:br/>
            <a:r>
              <a:t>• Physical evidence verified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886200"/>
            <a:ext cx="3456432" cy="22402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4023360"/>
            <a:ext cx="3090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00:40 - 00:50 | Scenario RUL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4480560"/>
            <a:ext cx="318211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</a:defRPr>
            </a:pPr>
            <a:r>
              <a:t>• RUL: 14.2 min [11.8 - 19.5 min]</a:t>
            </a:r>
            <a:br/>
            <a:r>
              <a:t>• Health trajectory H(t) declines</a:t>
            </a:r>
            <a:br/>
            <a:r>
              <a:t>• Loiter survival evaluated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886200"/>
            <a:ext cx="3456432" cy="22402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3" y="4023360"/>
            <a:ext cx="3090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00:50 - 01:00 | Autonomous RTB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4480560"/>
            <a:ext cx="318211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1F5F9"/>
                </a:solidFill>
              </a:defRPr>
            </a:pPr>
            <a:r>
              <a:t>• Mission survival drops &lt; 75%</a:t>
            </a:r>
            <a:br/>
            <a:r>
              <a:t>• Directive: RETURN TO BASE</a:t>
            </a:r>
            <a:br/>
            <a:r>
              <a:t>• Transition logged to 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SIH26054 · DRDO · AEROSPACE AI DIGITAL TWIN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Technical Feasibility &amp; Military Test-Cell Integration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75504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09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Current Readiness (TRL 5)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Fully Tested Laboratory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0974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1F5F9"/>
                </a:solidFill>
              </a:defRPr>
            </a:pPr>
            <a:r>
              <a:t>• Complete 4-stage AI digital twin implemented and validated across 5 canonical flights.</a:t>
            </a:r>
            <a:br/>
            <a:br/>
            <a:r>
              <a:t>• Ingestion bridge supporting MAVLink v2.0 UDP and Serial hardware interfaces.</a:t>
            </a:r>
            <a:br/>
            <a:br/>
            <a:r>
              <a:t>• Pure CPU-based edge inference (&lt; 180 MB RAM, 66.7 ms latency).</a:t>
            </a:r>
            <a:br/>
            <a:br/>
            <a:r>
              <a:t>• Deterministic FSM decision logic logging transitions to auditable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463040"/>
            <a:ext cx="5175504" cy="475488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5664" y="1600200"/>
            <a:ext cx="48097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DRDO Integration Pathway (TRL 6-8)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Next Development Phases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103120"/>
            <a:ext cx="480974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1F5F9"/>
                </a:solidFill>
              </a:defRPr>
            </a:pPr>
            <a:r>
              <a:t>• Phase 1 (Test-Cell Calibration):</a:t>
            </a:r>
            <a:br/>
            <a:r>
              <a:t>  Ingest ground test-cell data from DRDO heavy-fuel / diesel UAV propulsion engines.</a:t>
            </a:r>
            <a:br/>
            <a:br/>
            <a:r>
              <a:t>• Phase 2 (Avionics Hardware-in-the-Loop):</a:t>
            </a:r>
            <a:br/>
            <a:r>
              <a:t>  Deploy as an embedded companion daemon on Pixhawk / Raspberry Pi CM4 avionics.</a:t>
            </a:r>
            <a:br/>
            <a:br/>
            <a:r>
              <a:t>• Phase 3 (Flight Trials):</a:t>
            </a:r>
            <a:br/>
            <a:r>
              <a:t>  Live telemetry downlink integration with tactical DRDO Ground Control Stations.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SIH26054 · DRDO · AEROSPACE AI DIGITAL TWIN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Conclusion: Protecting Indigenous Defence UAV Assets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9997135" cy="4663440"/>
          </a:xfrm>
          <a:prstGeom prst="roundRect">
            <a:avLst/>
          </a:prstGeom>
          <a:solidFill>
            <a:srgbClr val="121824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737360"/>
            <a:ext cx="92656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KEY TAKEAWAYS FOR SIH 2026 JURY:</a:t>
            </a:r>
          </a:p>
          <a:p>
            <a:br/>
            <a:pPr>
              <a:defRPr sz="1300">
                <a:solidFill>
                  <a:srgbClr val="F1F5F9"/>
                </a:solidFill>
              </a:defRPr>
            </a:pPr>
            <a:r>
              <a:t>1. REAL DATA FIRST: Built on 28,907 seconds of real aero-piston telemetry — not synthetic guesses.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2. PHYSICS DIGITAL TWIN: First-principles energy balance baselines eliminate unphysical AI hallucinations.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3. SPATIAL CYLINDER ISOLATION: 99.12% accuracy pinpointing specific cylinder failure modes.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4. AUTONOMOUS FAILSAFE: Monte Carlo mission risk translates engine degradation into actionable RTB decisions.</a:t>
            </a:r>
          </a:p>
          <a:p>
            <a:pPr>
              <a:defRPr sz="1300">
                <a:solidFill>
                  <a:srgbClr val="10B981"/>
                </a:solidFill>
              </a:defRPr>
            </a:pPr>
            <a:r>
              <a:t>5. EDGE DEPLOYABLE: 66.7 ms latency on laptop CPU, 100% offline standalone execution.</a:t>
            </a:r>
          </a:p>
          <a:p>
            <a:br/>
            <a:pPr>
              <a:defRPr sz="1300" b="1">
                <a:solidFill>
                  <a:srgbClr val="38BDF8"/>
                </a:solidFill>
              </a:defRPr>
            </a:pPr>
            <a:r>
              <a:t>GitHub Repository: https://github.com/SabareeshChinta/Drone-Saver | Open for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